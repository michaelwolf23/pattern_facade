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Nunito"/>
      <p:regular r:id="rId14"/>
      <p:bold r:id="rId15"/>
      <p:italic r:id="rId16"/>
      <p:boldItalic r:id="rId17"/>
    </p:embeddedFont>
    <p:embeddedFont>
      <p:font typeface="Montserrat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  <p:embeddedFont>
      <p:font typeface="Nunito Medium"/>
      <p:regular r:id="rId26"/>
      <p:bold r:id="rId27"/>
      <p:italic r:id="rId28"/>
      <p:boldItalic r:id="rId29"/>
    </p:embeddedFont>
    <p:embeddedFont>
      <p:font typeface="Roboto Mon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62">
          <p15:clr>
            <a:srgbClr val="747775"/>
          </p15:clr>
        </p15:guide>
        <p15:guide id="2" pos="2880">
          <p15:clr>
            <a:srgbClr val="747775"/>
          </p15:clr>
        </p15:guide>
        <p15:guide id="3" pos="227">
          <p15:clr>
            <a:srgbClr val="747775"/>
          </p15:clr>
        </p15:guide>
        <p15:guide id="4" pos="5533">
          <p15:clr>
            <a:srgbClr val="747775"/>
          </p15:clr>
        </p15:guide>
        <p15:guide id="5" orient="horz" pos="227">
          <p15:clr>
            <a:srgbClr val="747775"/>
          </p15:clr>
        </p15:guide>
        <p15:guide id="6" orient="horz" pos="3013">
          <p15:clr>
            <a:srgbClr val="747775"/>
          </p15:clr>
        </p15:guide>
        <p15:guide id="7" pos="817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62" orient="horz"/>
        <p:guide pos="2880"/>
        <p:guide pos="227"/>
        <p:guide pos="5533"/>
        <p:guide pos="227" orient="horz"/>
        <p:guide pos="3013" orient="horz"/>
        <p:guide pos="81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Lato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Medium-regular.fntdata"/><Relationship Id="rId25" Type="http://schemas.openxmlformats.org/officeDocument/2006/relationships/font" Target="fonts/Lato-boldItalic.fntdata"/><Relationship Id="rId28" Type="http://schemas.openxmlformats.org/officeDocument/2006/relationships/font" Target="fonts/NunitoMedium-italic.fntdata"/><Relationship Id="rId27" Type="http://schemas.openxmlformats.org/officeDocument/2006/relationships/font" Target="fonts/Nunito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bold.fntdata"/><Relationship Id="rId30" Type="http://schemas.openxmlformats.org/officeDocument/2006/relationships/font" Target="fonts/RobotoMono-regular.fntdata"/><Relationship Id="rId11" Type="http://schemas.openxmlformats.org/officeDocument/2006/relationships/slide" Target="slides/slide6.xml"/><Relationship Id="rId33" Type="http://schemas.openxmlformats.org/officeDocument/2006/relationships/font" Target="fonts/RobotoMono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Mon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Nunito-bold.fntdata"/><Relationship Id="rId14" Type="http://schemas.openxmlformats.org/officeDocument/2006/relationships/font" Target="fonts/Nunito-regular.fntdata"/><Relationship Id="rId17" Type="http://schemas.openxmlformats.org/officeDocument/2006/relationships/font" Target="fonts/Nunito-boldItalic.fntdata"/><Relationship Id="rId16" Type="http://schemas.openxmlformats.org/officeDocument/2006/relationships/font" Target="fonts/Nunito-italic.fntdata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98f1877ce_0_6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98f1877ce_0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98f1877ce_0_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b98f1877ce_0_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98f1877c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b98f1877c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98f1877ce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b98f1877ce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98f1877ce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b98f1877ce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9a461277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b9a461277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9a461277c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b9a461277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MichaelWolf23/Pattern_Facade/blob/master/Pattern_Facade/Program.cs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Паттерн «фасад»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3583300" y="3502800"/>
            <a:ext cx="4912500" cy="9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ru" sz="2002">
                <a:latin typeface="Nunito"/>
                <a:ea typeface="Nunito"/>
                <a:cs typeface="Nunito"/>
                <a:sym typeface="Nunito"/>
              </a:rPr>
              <a:t>Добрый день! Меня зовут Волков Михаил, и сегодня я расскажу о паттерне проектирования Фасад</a:t>
            </a:r>
            <a:endParaRPr sz="2002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60000"/>
            <a:ext cx="7038900" cy="7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/>
              <a:t>Представление паттерна</a:t>
            </a:r>
            <a:endParaRPr sz="2600"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360000" y="2996525"/>
            <a:ext cx="8424000" cy="17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ru" sz="1700">
                <a:latin typeface="Nunito"/>
                <a:ea typeface="Nunito"/>
                <a:cs typeface="Nunito"/>
                <a:sym typeface="Nunito"/>
              </a:rPr>
              <a:t>Проблема</a:t>
            </a:r>
            <a:r>
              <a:rPr lang="ru" sz="1700">
                <a:latin typeface="Nunito"/>
                <a:ea typeface="Nunito"/>
                <a:cs typeface="Nunito"/>
                <a:sym typeface="Nunito"/>
              </a:rPr>
              <a:t>: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rPr lang="ru" sz="1600">
                <a:latin typeface="Nunito"/>
                <a:ea typeface="Nunito"/>
                <a:cs typeface="Nunito"/>
                <a:sym typeface="Nunito"/>
              </a:rPr>
              <a:t>В процессе разработки системы часто становятся слишком сложными, и клиенту приходится знать о множестве компонентов и их связях. Это ведет к «взрыву зависимостей» и сложности поддержки кода.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360000" y="1209500"/>
            <a:ext cx="4212000" cy="17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Категория</a:t>
            </a:r>
            <a:r>
              <a:rPr lang="ru" sz="1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endParaRPr sz="18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lang="ru" sz="16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Фасад — это структурный паттерн.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4572000" y="1209500"/>
            <a:ext cx="4212000" cy="17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Суть</a:t>
            </a:r>
            <a:r>
              <a:rPr lang="ru" sz="17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endParaRPr sz="17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lang="ru" sz="16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Он предоставляет простой и единый интерфейс к сложной системе классов, библиотеке или фреймворку.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 txBox="1"/>
          <p:nvPr>
            <p:ph type="title"/>
          </p:nvPr>
        </p:nvSpPr>
        <p:spPr>
          <a:xfrm>
            <a:off x="1297500" y="360000"/>
            <a:ext cx="7038900" cy="6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/>
              <a:t>Решение и аналогия из жизни</a:t>
            </a:r>
            <a:endParaRPr sz="2600"/>
          </a:p>
        </p:txBody>
      </p:sp>
      <p:sp>
        <p:nvSpPr>
          <p:cNvPr id="149" name="Google Shape;149;p15"/>
          <p:cNvSpPr txBox="1"/>
          <p:nvPr>
            <p:ph idx="1" type="body"/>
          </p:nvPr>
        </p:nvSpPr>
        <p:spPr>
          <a:xfrm>
            <a:off x="3261950" y="1209650"/>
            <a:ext cx="5522100" cy="35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latin typeface="Nunito"/>
                <a:ea typeface="Nunito"/>
                <a:cs typeface="Nunito"/>
                <a:sym typeface="Nunito"/>
              </a:rPr>
              <a:t>Аналогия</a:t>
            </a:r>
            <a:r>
              <a:rPr lang="ru" sz="1800">
                <a:latin typeface="Nunito"/>
                <a:ea typeface="Nunito"/>
                <a:cs typeface="Nunito"/>
                <a:sym typeface="Nunito"/>
              </a:rPr>
              <a:t>: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latin typeface="Nunito"/>
                <a:ea typeface="Nunito"/>
                <a:cs typeface="Nunito"/>
                <a:sym typeface="Nunito"/>
              </a:rPr>
              <a:t>Представьте покупку тура в Турфирме: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245600" lvl="0" marL="288000" rtl="0" algn="l">
              <a:spcBef>
                <a:spcPts val="120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ru" sz="1600">
                <a:latin typeface="Nunito"/>
                <a:ea typeface="Nunito"/>
                <a:cs typeface="Nunito"/>
                <a:sym typeface="Nunito"/>
              </a:rPr>
              <a:t>Вы не звоните отдельно в авиакомпанию для брони билетов.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245600" lvl="0" marL="288000" rtl="0" algn="l">
              <a:spcBef>
                <a:spcPts val="120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ru" sz="1600">
                <a:latin typeface="Nunito"/>
                <a:ea typeface="Nunito"/>
                <a:cs typeface="Nunito"/>
                <a:sym typeface="Nunito"/>
              </a:rPr>
              <a:t>Вы не связываетесь с отелем и страховой компанией по отдельности.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245600" lvl="0" marL="288000" rtl="0" algn="l">
              <a:spcBef>
                <a:spcPts val="100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ru" sz="1600">
                <a:latin typeface="Nunito"/>
                <a:ea typeface="Nunito"/>
                <a:cs typeface="Nunito"/>
                <a:sym typeface="Nunito"/>
              </a:rPr>
              <a:t>Турфирма выступает как Фасад: вы взаимодействуете с одним менеджером, который скрывает за собой всю сложность организации поездки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0" name="Google Shape;150;p15"/>
          <p:cNvSpPr txBox="1"/>
          <p:nvPr/>
        </p:nvSpPr>
        <p:spPr>
          <a:xfrm>
            <a:off x="360000" y="1209650"/>
            <a:ext cx="2901900" cy="36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Решение</a:t>
            </a:r>
            <a:r>
              <a:rPr lang="ru" sz="1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endParaRPr sz="18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6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Вместо прямой работы с десятком инструментов, Фасад предлагает создать один класс, который берет на себя все сложные взаимодействия.</a:t>
            </a:r>
            <a:endParaRPr sz="16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 txBox="1"/>
          <p:nvPr>
            <p:ph type="title"/>
          </p:nvPr>
        </p:nvSpPr>
        <p:spPr>
          <a:xfrm>
            <a:off x="1297500" y="360000"/>
            <a:ext cx="70389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/>
              <a:t>Принцип работы и структура</a:t>
            </a:r>
            <a:endParaRPr sz="2600"/>
          </a:p>
        </p:txBody>
      </p:sp>
      <p:sp>
        <p:nvSpPr>
          <p:cNvPr id="156" name="Google Shape;156;p16"/>
          <p:cNvSpPr txBox="1"/>
          <p:nvPr>
            <p:ph idx="1" type="body"/>
          </p:nvPr>
        </p:nvSpPr>
        <p:spPr>
          <a:xfrm>
            <a:off x="4571900" y="1209675"/>
            <a:ext cx="4212000" cy="35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ru" sz="1800">
                <a:latin typeface="Nunito"/>
                <a:ea typeface="Nunito"/>
                <a:cs typeface="Nunito"/>
                <a:sym typeface="Nunito"/>
              </a:rPr>
              <a:t>Как это работает: </a:t>
            </a:r>
            <a:endParaRPr b="1" sz="18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600">
                <a:latin typeface="Nunito"/>
                <a:ea typeface="Nunito"/>
                <a:cs typeface="Nunito"/>
                <a:sym typeface="Nunito"/>
              </a:rPr>
              <a:t>Когда клиент вызывает метод Фасада, объект Фасада поочередно выполняет действия в подсистемах и возвращает готовый результат.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360000" y="1209650"/>
            <a:ext cx="4212000" cy="3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Компоненты:</a:t>
            </a:r>
            <a:endParaRPr b="1" sz="18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45600" lvl="0" marL="288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ato"/>
              <a:buChar char="●"/>
            </a:pPr>
            <a:r>
              <a:rPr b="1" lang="ru" sz="16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Фасад</a:t>
            </a:r>
            <a:r>
              <a:rPr lang="ru" sz="16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: Знает, каким объектам подсистемы нужно делегировать запрос.</a:t>
            </a:r>
            <a:endParaRPr sz="16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45600" lvl="0" marL="288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ato"/>
              <a:buChar char="●"/>
            </a:pPr>
            <a:r>
              <a:rPr b="1" lang="ru" sz="16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Классы подсистемы</a:t>
            </a:r>
            <a:r>
              <a:rPr lang="ru" sz="16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: Реализуют конкретную сложную логику, не подозревая о существовании фасада.</a:t>
            </a:r>
            <a:endParaRPr sz="16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45600" lvl="0" marL="288000" rtl="0" algn="l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Clr>
                <a:schemeClr val="lt1"/>
              </a:buClr>
              <a:buSzPts val="1600"/>
              <a:buFont typeface="Lato"/>
              <a:buChar char="●"/>
            </a:pPr>
            <a:r>
              <a:rPr b="1" lang="ru" sz="16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Клиент</a:t>
            </a:r>
            <a:r>
              <a:rPr lang="ru" sz="16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: Работает со всей системой только через интерфейс Фасада.</a:t>
            </a:r>
            <a:endParaRPr sz="16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 txBox="1"/>
          <p:nvPr>
            <p:ph type="title"/>
          </p:nvPr>
        </p:nvSpPr>
        <p:spPr>
          <a:xfrm>
            <a:off x="1297500" y="360000"/>
            <a:ext cx="70389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/>
              <a:t>Пример кода — скелет паттерна</a:t>
            </a:r>
            <a:endParaRPr sz="2600"/>
          </a:p>
        </p:txBody>
      </p:sp>
      <p:sp>
        <p:nvSpPr>
          <p:cNvPr id="163" name="Google Shape;163;p17"/>
          <p:cNvSpPr txBox="1"/>
          <p:nvPr>
            <p:ph idx="1" type="body"/>
          </p:nvPr>
        </p:nvSpPr>
        <p:spPr>
          <a:xfrm>
            <a:off x="3364575" y="1209725"/>
            <a:ext cx="5779500" cy="3914700"/>
          </a:xfrm>
          <a:prstGeom prst="rect">
            <a:avLst/>
          </a:prstGeom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0000" lIns="126000" spcFirstLastPara="1" rIns="91425" wrap="square" tIns="90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ru" sz="10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// 1. Подсистемы (Сложные внутренние компоненты)</a:t>
            </a:r>
            <a:endParaRPr sz="10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ru" sz="1000">
                <a:latin typeface="Roboto Mono"/>
                <a:ea typeface="Roboto Mono"/>
                <a:cs typeface="Roboto Mono"/>
                <a:sym typeface="Roboto Mono"/>
              </a:rPr>
              <a:t>public class Warehouse {public bool CheckStock(string item){</a:t>
            </a:r>
            <a:r>
              <a:rPr lang="ru" sz="10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//Проверка</a:t>
            </a:r>
            <a:r>
              <a:rPr lang="ru" sz="1000">
                <a:latin typeface="Roboto Mono"/>
                <a:ea typeface="Roboto Mono"/>
                <a:cs typeface="Roboto Mono"/>
                <a:sym typeface="Roboto Mono"/>
              </a:rPr>
              <a:t>}}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ru" sz="1000">
                <a:latin typeface="Roboto Mono"/>
                <a:ea typeface="Roboto Mono"/>
                <a:cs typeface="Roboto Mono"/>
                <a:sym typeface="Roboto Mono"/>
              </a:rPr>
              <a:t>public class PaymentSystem {public void Pay(double amount){</a:t>
            </a:r>
            <a:r>
              <a:rPr lang="ru" sz="10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//Оплата</a:t>
            </a:r>
            <a:r>
              <a:rPr lang="ru" sz="1000">
                <a:latin typeface="Roboto Mono"/>
                <a:ea typeface="Roboto Mono"/>
                <a:cs typeface="Roboto Mono"/>
                <a:sym typeface="Roboto Mono"/>
              </a:rPr>
              <a:t>}}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ru" sz="1000">
                <a:latin typeface="Roboto Mono"/>
                <a:ea typeface="Roboto Mono"/>
                <a:cs typeface="Roboto Mono"/>
                <a:sym typeface="Roboto Mono"/>
              </a:rPr>
              <a:t>public class ShippingService{public void Ship(){</a:t>
            </a:r>
            <a:r>
              <a:rPr lang="ru" sz="10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//Доставка</a:t>
            </a:r>
            <a:r>
              <a:rPr lang="ru" sz="1000">
                <a:latin typeface="Roboto Mono"/>
                <a:ea typeface="Roboto Mono"/>
                <a:cs typeface="Roboto Mono"/>
                <a:sym typeface="Roboto Mono"/>
              </a:rPr>
              <a:t>}}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ru" sz="10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// 2. Фасад (Упрощенный интерфейс для клиента)</a:t>
            </a:r>
            <a:endParaRPr sz="10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ru" sz="1000">
                <a:latin typeface="Roboto Mono"/>
                <a:ea typeface="Roboto Mono"/>
                <a:cs typeface="Roboto Mono"/>
                <a:sym typeface="Roboto Mono"/>
              </a:rPr>
              <a:t>public class OrderFacade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ru" sz="1000">
                <a:latin typeface="Roboto Mono"/>
                <a:ea typeface="Roboto Mono"/>
                <a:cs typeface="Roboto Mono"/>
                <a:sym typeface="Roboto Mono"/>
              </a:rPr>
              <a:t>{	</a:t>
            </a:r>
            <a:r>
              <a:rPr lang="ru" sz="10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// Ссылки на компоненты</a:t>
            </a:r>
            <a:endParaRPr sz="10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latin typeface="Roboto Mono"/>
                <a:ea typeface="Roboto Mono"/>
                <a:cs typeface="Roboto Mono"/>
                <a:sym typeface="Roboto Mono"/>
              </a:rPr>
              <a:t>    private readonly Warehouse _warehouse = new Warehouse();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latin typeface="Roboto Mono"/>
                <a:ea typeface="Roboto Mono"/>
                <a:cs typeface="Roboto Mono"/>
                <a:sym typeface="Roboto Mono"/>
              </a:rPr>
              <a:t>    private readonly PaymentSystem _payment = new PaymentSystem();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latin typeface="Roboto Mono"/>
                <a:ea typeface="Roboto Mono"/>
                <a:cs typeface="Roboto Mono"/>
                <a:sym typeface="Roboto Mono"/>
              </a:rPr>
              <a:t>    private readonly ShippingService _shipping = new ShippingService();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latin typeface="Roboto Mono"/>
                <a:ea typeface="Roboto Mono"/>
                <a:cs typeface="Roboto Mono"/>
                <a:sym typeface="Roboto Mono"/>
              </a:rPr>
              <a:t>    public void PlaceOrder(string item, double price)</a:t>
            </a:r>
            <a:r>
              <a:rPr lang="ru" sz="10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//Метод для клиента</a:t>
            </a:r>
            <a:endParaRPr sz="10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latin typeface="Roboto Mono"/>
                <a:ea typeface="Roboto Mono"/>
                <a:cs typeface="Roboto Mono"/>
                <a:sym typeface="Roboto Mono"/>
              </a:rPr>
              <a:t>    {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latin typeface="Roboto Mono"/>
                <a:ea typeface="Roboto Mono"/>
                <a:cs typeface="Roboto Mono"/>
                <a:sym typeface="Roboto Mono"/>
              </a:rPr>
              <a:t>        if (_warehouse.CheckStock(item))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latin typeface="Roboto Mono"/>
                <a:ea typeface="Roboto Mono"/>
                <a:cs typeface="Roboto Mono"/>
                <a:sym typeface="Roboto Mono"/>
              </a:rPr>
              <a:t>        {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latin typeface="Roboto Mono"/>
                <a:ea typeface="Roboto Mono"/>
                <a:cs typeface="Roboto Mono"/>
                <a:sym typeface="Roboto Mono"/>
              </a:rPr>
              <a:t>            _payment.Pay(price);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latin typeface="Roboto Mono"/>
                <a:ea typeface="Roboto Mono"/>
                <a:cs typeface="Roboto Mono"/>
                <a:sym typeface="Roboto Mono"/>
              </a:rPr>
              <a:t>            _shipping.Ship();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latin typeface="Roboto Mono"/>
                <a:ea typeface="Roboto Mono"/>
                <a:cs typeface="Roboto Mono"/>
                <a:sym typeface="Roboto Mono"/>
              </a:rPr>
              <a:t>        }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900"/>
          </a:p>
        </p:txBody>
      </p:sp>
      <p:sp>
        <p:nvSpPr>
          <p:cNvPr id="164" name="Google Shape;164;p17"/>
          <p:cNvSpPr txBox="1"/>
          <p:nvPr/>
        </p:nvSpPr>
        <p:spPr>
          <a:xfrm>
            <a:off x="90350" y="1209650"/>
            <a:ext cx="3274200" cy="39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На слайде представлена минимальная реализация на C#:</a:t>
            </a:r>
            <a:endParaRPr b="1" sz="15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90550" lvl="0" marL="216000" marR="720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ru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У нас есть классы </a:t>
            </a:r>
            <a:r>
              <a:rPr lang="ru" sz="1300">
                <a:solidFill>
                  <a:schemeClr val="lt1"/>
                </a:solidFill>
                <a:latin typeface="Nunito Medium"/>
                <a:ea typeface="Nunito Medium"/>
                <a:cs typeface="Nunito Medium"/>
                <a:sym typeface="Nunito Medium"/>
              </a:rPr>
              <a:t>Warehouse</a:t>
            </a:r>
            <a:r>
              <a:rPr lang="ru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ru" sz="1300">
                <a:solidFill>
                  <a:schemeClr val="lt1"/>
                </a:solidFill>
                <a:latin typeface="Nunito Medium"/>
                <a:ea typeface="Nunito Medium"/>
                <a:cs typeface="Nunito Medium"/>
                <a:sym typeface="Nunito Medium"/>
              </a:rPr>
              <a:t>PaymentSystem</a:t>
            </a:r>
            <a:r>
              <a:rPr lang="ru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и </a:t>
            </a:r>
            <a:r>
              <a:rPr lang="ru" sz="1300">
                <a:solidFill>
                  <a:schemeClr val="lt1"/>
                </a:solidFill>
                <a:latin typeface="Nunito Medium"/>
                <a:ea typeface="Nunito Medium"/>
                <a:cs typeface="Nunito Medium"/>
                <a:sym typeface="Nunito Medium"/>
              </a:rPr>
              <a:t>ShippingService</a:t>
            </a:r>
            <a:r>
              <a:rPr lang="ru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. Это наши сложные подсистемы.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90550" lvl="0" marL="216000" marR="720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ru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Класс </a:t>
            </a:r>
            <a:r>
              <a:rPr lang="ru" sz="1300">
                <a:solidFill>
                  <a:schemeClr val="lt1"/>
                </a:solidFill>
                <a:latin typeface="Nunito Medium"/>
                <a:ea typeface="Nunito Medium"/>
                <a:cs typeface="Nunito Medium"/>
                <a:sym typeface="Nunito Medium"/>
              </a:rPr>
              <a:t>OrderFacade</a:t>
            </a:r>
            <a:r>
              <a:rPr lang="ru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объединяет их. В его методе </a:t>
            </a:r>
            <a:r>
              <a:rPr lang="ru" sz="1300">
                <a:solidFill>
                  <a:schemeClr val="lt1"/>
                </a:solidFill>
                <a:latin typeface="Nunito Medium"/>
                <a:ea typeface="Nunito Medium"/>
                <a:cs typeface="Nunito Medium"/>
                <a:sym typeface="Nunito Medium"/>
              </a:rPr>
              <a:t>PlaceOrder</a:t>
            </a:r>
            <a:r>
              <a:rPr lang="ru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скрыта вся логика проверки наличия, оплаты и отправки товара.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90550" lvl="0" marL="216000" marR="720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unito"/>
              <a:buChar char="●"/>
            </a:pPr>
            <a:r>
              <a:rPr lang="ru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Клиенту достаточно создать объект фасада и вызвать одну функцию, передав название товара.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type="title"/>
          </p:nvPr>
        </p:nvSpPr>
        <p:spPr>
          <a:xfrm>
            <a:off x="1297500" y="360000"/>
            <a:ext cx="7038900" cy="6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/>
              <a:t>Демонстрация приложения</a:t>
            </a:r>
            <a:endParaRPr sz="2600"/>
          </a:p>
        </p:txBody>
      </p:sp>
      <p:sp>
        <p:nvSpPr>
          <p:cNvPr id="170" name="Google Shape;170;p18"/>
          <p:cNvSpPr txBox="1"/>
          <p:nvPr>
            <p:ph idx="1" type="body"/>
          </p:nvPr>
        </p:nvSpPr>
        <p:spPr>
          <a:xfrm>
            <a:off x="895550" y="1567550"/>
            <a:ext cx="7512000" cy="29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Nunito"/>
                <a:ea typeface="Nunito"/>
                <a:cs typeface="Nunito"/>
                <a:sym typeface="Nunito"/>
              </a:rPr>
              <a:t>А теперь — живая демонстрация. Я написал консольное приложение «Интернет-магазин», где процесс покупки скрыт за простым интерфейсом.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latin typeface="Nunito"/>
                <a:ea typeface="Nunito"/>
                <a:cs typeface="Nunito"/>
                <a:sym typeface="Nunito"/>
              </a:rPr>
              <a:t>Код доступен по </a:t>
            </a:r>
            <a:r>
              <a:rPr lang="ru" sz="1800" u="sng">
                <a:solidFill>
                  <a:srgbClr val="00FFFF"/>
                </a:solid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ссылке</a:t>
            </a:r>
            <a:endParaRPr sz="1800">
              <a:solidFill>
                <a:srgbClr val="00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>
            <p:ph type="title"/>
          </p:nvPr>
        </p:nvSpPr>
        <p:spPr>
          <a:xfrm>
            <a:off x="1297500" y="360000"/>
            <a:ext cx="70389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/>
              <a:t>Подведем итоги по паттерну Фасад:</a:t>
            </a:r>
            <a:endParaRPr sz="2600"/>
          </a:p>
        </p:txBody>
      </p:sp>
      <p:sp>
        <p:nvSpPr>
          <p:cNvPr id="176" name="Google Shape;176;p19"/>
          <p:cNvSpPr txBox="1"/>
          <p:nvPr/>
        </p:nvSpPr>
        <p:spPr>
          <a:xfrm>
            <a:off x="360000" y="1372775"/>
            <a:ext cx="4212000" cy="18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Плюсы:</a:t>
            </a:r>
            <a:endParaRPr b="1" sz="18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"/>
              <a:buChar char="●"/>
            </a:pPr>
            <a:r>
              <a:rPr lang="ru" sz="16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Изолирует клиентов от компонентов сложной подсистемы.</a:t>
            </a:r>
            <a:endParaRPr sz="16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"/>
              <a:buChar char="●"/>
            </a:pPr>
            <a:r>
              <a:rPr lang="ru" sz="16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Уменьшает зависимость между подсистемой и клиентом.</a:t>
            </a:r>
            <a:endParaRPr sz="16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4572000" y="1372775"/>
            <a:ext cx="4212000" cy="18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Минусы</a:t>
            </a:r>
            <a:r>
              <a:rPr b="1" lang="ru" sz="1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endParaRPr b="1" sz="18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"/>
              <a:buChar char="●"/>
            </a:pPr>
            <a:r>
              <a:rPr lang="ru" sz="16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Фасад рискует стать «божественным объектом», привязанным ко всем классам программы.</a:t>
            </a:r>
            <a:endParaRPr sz="16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360000" y="3202025"/>
            <a:ext cx="8424000" cy="15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Используйте его, когда:</a:t>
            </a:r>
            <a:endParaRPr b="1" sz="18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"/>
              <a:buChar char="●"/>
            </a:pPr>
            <a:r>
              <a:rPr lang="ru" sz="16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Фасад рискует стать «божественным объектом», привязанным ко всем классам программы.</a:t>
            </a:r>
            <a:endParaRPr sz="16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"/>
              <a:buChar char="●"/>
            </a:pPr>
            <a:r>
              <a:rPr lang="ru" sz="16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Вы хотите разложить подсистему на отдельные слои.</a:t>
            </a:r>
            <a:endParaRPr sz="16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>
            <p:ph type="title"/>
          </p:nvPr>
        </p:nvSpPr>
        <p:spPr>
          <a:xfrm>
            <a:off x="360000" y="360000"/>
            <a:ext cx="4738200" cy="84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внимание!</a:t>
            </a:r>
            <a:endParaRPr/>
          </a:p>
        </p:txBody>
      </p:sp>
      <p:sp>
        <p:nvSpPr>
          <p:cNvPr id="184" name="Google Shape;184;p20"/>
          <p:cNvSpPr txBox="1"/>
          <p:nvPr>
            <p:ph idx="4294967295" type="body"/>
          </p:nvPr>
        </p:nvSpPr>
        <p:spPr>
          <a:xfrm>
            <a:off x="360000" y="1575050"/>
            <a:ext cx="7279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2400">
                <a:latin typeface="Nunito"/>
                <a:ea typeface="Nunito"/>
                <a:cs typeface="Nunito"/>
                <a:sym typeface="Nunito"/>
              </a:rPr>
              <a:t>Я готов ответить на ваши вопросы.</a:t>
            </a:r>
            <a:endParaRPr b="1" sz="24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